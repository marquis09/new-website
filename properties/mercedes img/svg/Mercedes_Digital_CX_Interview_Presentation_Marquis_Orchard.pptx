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94650" autoAdjust="0"/>
  </p:normalViewPr>
  <p:slideViewPr>
    <p:cSldViewPr snapToGrid="0" snapToObjects="1">
      <p:cViewPr varScale="1">
        <p:scale>
          <a:sx n="81" d="100"/>
          <a:sy n="81" d="100"/>
        </p:scale>
        <p:origin x="88" y="1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66" d="100"/>
          <a:sy n="66" d="100"/>
        </p:scale>
        <p:origin x="2364" y="5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5BD516-E88D-4B61-AD0E-CC6CAE0996A0}" type="datetimeFigureOut">
              <a:rPr lang="en-GB" smtClean="0"/>
              <a:t>05/08/2026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F1B4BE-6282-4634-A19F-3BB41AC2A07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64627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F1B4BE-6282-4634-A19F-3BB41AC2A074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88318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F1B4BE-6282-4634-A19F-3BB41AC2A074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17225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F1B4BE-6282-4634-A19F-3BB41AC2A074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69724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" y="0"/>
            <a:ext cx="12188816" cy="235867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1156549" y="637762"/>
            <a:ext cx="9885921" cy="15203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800" b="1">
                <a:solidFill>
                  <a:srgbClr val="FFFFFF"/>
                </a:solidFill>
              </a:defRPr>
            </a:pPr>
            <a:r>
              <a:rPr lang="en-US" sz="44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Enhancing the Online Showroom Finance Journey (Proposal)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358676"/>
            <a:ext cx="12188815" cy="454542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549" y="2893697"/>
            <a:ext cx="457081" cy="457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E80E188-D590-F29F-F6C7-E394A5EA6F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6549" y="3474437"/>
            <a:ext cx="3251822" cy="32994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67528" y="3100283"/>
            <a:ext cx="9887212" cy="30766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rgbClr val="B4B4B4"/>
                </a:solidFill>
              </a:defRPr>
            </a:pP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Digital Customer Experience &amp; Product Strategy Proposal</a:t>
            </a:r>
            <a:b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en-US" sz="2400" dirty="0">
                <a:solidFill>
                  <a:schemeClr val="bg1"/>
                </a:solidFill>
              </a:rPr>
              <a:t>    Marquis Orchard 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| Candidate – Digital CX &amp; Product Specialist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D6D8B21-D45F-7E2A-FCBE-0527E3CB9A17}"/>
              </a:ext>
            </a:extLst>
          </p:cNvPr>
          <p:cNvSpPr txBox="1"/>
          <p:nvPr/>
        </p:nvSpPr>
        <p:spPr>
          <a:xfrm>
            <a:off x="-1453415" y="238706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GB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4DA92FF-8492-5159-8E17-7F05B8DD3E1D}"/>
              </a:ext>
            </a:extLst>
          </p:cNvPr>
          <p:cNvSpPr/>
          <p:nvPr/>
        </p:nvSpPr>
        <p:spPr>
          <a:xfrm>
            <a:off x="0" y="6809874"/>
            <a:ext cx="1867528" cy="9423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86CC6C-CC6B-CA5C-4493-DD2938528239}"/>
              </a:ext>
            </a:extLst>
          </p:cNvPr>
          <p:cNvSpPr txBox="1"/>
          <p:nvPr/>
        </p:nvSpPr>
        <p:spPr>
          <a:xfrm>
            <a:off x="1955492" y="4529009"/>
            <a:ext cx="888213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/>
              <a:t>OBJECTIVE</a:t>
            </a:r>
            <a:r>
              <a:rPr lang="en-GB" dirty="0"/>
              <a:t>: A customer-first approach to identify hesitation, simplify financial decisions, and improve satisfaction and conversions.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" y="0"/>
            <a:ext cx="12188816" cy="235867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1156549" y="637762"/>
            <a:ext cx="9885921" cy="15203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800" b="1">
                <a:solidFill>
                  <a:srgbClr val="FFFFFF"/>
                </a:solidFill>
              </a:defRPr>
            </a:pPr>
            <a:r>
              <a:rPr lang="en-US" sz="44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1. Understanding the Customer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358676"/>
            <a:ext cx="12188815" cy="454542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549" y="2893697"/>
            <a:ext cx="457081" cy="457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1155256" y="2476242"/>
            <a:ext cx="11033559" cy="7052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rgbClr val="B4B4B4"/>
                </a:solidFill>
              </a:defRPr>
            </a:pPr>
            <a:r>
              <a:rPr lang="en-US" sz="2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Step 1: Research &amp; Discovery </a:t>
            </a:r>
            <a:r>
              <a:rPr lang="en-US" sz="2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</a:t>
            </a:r>
            <a:r>
              <a:rPr lang="en-GB" sz="2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getting deep into the customer's mindset.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6548" y="2936236"/>
            <a:ext cx="6466659" cy="1554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F0F0F0"/>
                </a:solidFill>
              </a:defRPr>
            </a:pPr>
            <a:r>
              <a:rPr lang="en-GB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• Where do customers drop off?</a:t>
            </a:r>
          </a:p>
          <a:p>
            <a:pPr>
              <a:spcAft>
                <a:spcPts val="600"/>
              </a:spcAft>
              <a:defRPr sz="2000">
                <a:solidFill>
                  <a:srgbClr val="F0F0F0"/>
                </a:solidFill>
              </a:defRPr>
            </a:pPr>
            <a:r>
              <a:rPr lang="en-GB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• Which finance terms cause confusion?</a:t>
            </a:r>
          </a:p>
          <a:p>
            <a:pPr>
              <a:spcAft>
                <a:spcPts val="600"/>
              </a:spcAft>
              <a:defRPr sz="2000">
                <a:solidFill>
                  <a:srgbClr val="F0F0F0"/>
                </a:solidFill>
              </a:defRPr>
            </a:pPr>
            <a:endParaRPr lang="en-GB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spcAft>
                <a:spcPts val="600"/>
              </a:spcAft>
              <a:defRPr sz="2000">
                <a:solidFill>
                  <a:srgbClr val="F0F0F0"/>
                </a:solidFill>
              </a:defRPr>
            </a:pPr>
            <a:endParaRPr lang="en-GB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1E31EC9-AFB7-41C5-724F-8EB851A0887C}"/>
              </a:ext>
            </a:extLst>
          </p:cNvPr>
          <p:cNvSpPr txBox="1"/>
          <p:nvPr/>
        </p:nvSpPr>
        <p:spPr>
          <a:xfrm>
            <a:off x="1091725" y="4647403"/>
            <a:ext cx="1072414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F0F0F0"/>
                </a:solidFill>
              </a:defRPr>
            </a:pPr>
            <a:r>
              <a:rPr lang="en-GB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Research approach:</a:t>
            </a:r>
          </a:p>
          <a:p>
            <a:pPr>
              <a:spcAft>
                <a:spcPts val="600"/>
              </a:spcAft>
              <a:defRPr sz="2000">
                <a:solidFill>
                  <a:srgbClr val="F0F0F0"/>
                </a:solidFill>
              </a:defRPr>
            </a:pPr>
            <a:r>
              <a:rPr lang="en-GB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- Website analytics (Audit funnel drop-offs on pages &amp; calculator steps to identify where users leave.)</a:t>
            </a:r>
          </a:p>
          <a:p>
            <a:pPr>
              <a:spcAft>
                <a:spcPts val="600"/>
              </a:spcAft>
              <a:defRPr sz="2000">
                <a:solidFill>
                  <a:srgbClr val="F0F0F0"/>
                </a:solidFill>
              </a:defRPr>
            </a:pPr>
            <a:r>
              <a:rPr lang="en-GB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- Live chat &amp; support logs (Analyse customer queries to identify common questions and confusion</a:t>
            </a:r>
            <a:r>
              <a:rPr lang="en-GB" sz="2000" dirty="0"/>
              <a:t>.</a:t>
            </a:r>
            <a:r>
              <a:rPr lang="en-GB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</a:t>
            </a:r>
          </a:p>
          <a:p>
            <a:pPr marL="342900" indent="-342900">
              <a:spcAft>
                <a:spcPts val="600"/>
              </a:spcAft>
              <a:buFontTx/>
              <a:buChar char="-"/>
              <a:defRPr sz="2000">
                <a:solidFill>
                  <a:srgbClr val="F0F0F0"/>
                </a:solidFill>
              </a:defRPr>
            </a:pPr>
            <a:r>
              <a:rPr lang="en-GB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5–10 usability sessions (Observe user behaviour to uncover insights beyond data)</a:t>
            </a:r>
          </a:p>
          <a:p>
            <a:pPr>
              <a:spcAft>
                <a:spcPts val="600"/>
              </a:spcAft>
              <a:defRPr sz="2000">
                <a:solidFill>
                  <a:srgbClr val="F0F0F0"/>
                </a:solidFill>
              </a:defRPr>
            </a:pPr>
            <a:r>
              <a:rPr lang="en-GB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Solution: Building on real customer data.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F480F5A7-9B07-8B99-5ADF-037C173B87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6550" y="4135834"/>
            <a:ext cx="8311935" cy="49348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CEEAC482-95F5-7FF9-7E9C-CACDDD10587E}"/>
                  </a:ext>
                </a:extLst>
              </p:cNvPr>
              <p:cNvSpPr txBox="1"/>
              <p:nvPr/>
            </p:nvSpPr>
            <p:spPr>
              <a:xfrm>
                <a:off x="1613630" y="4135834"/>
                <a:ext cx="7594723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sz="2400" b="1" dirty="0">
                    <a:solidFill>
                      <a:schemeClr val="bg1"/>
                    </a:solidFill>
                    <a:effectLst/>
                  </a:rPr>
                  <a:t>Browsing Cars </a:t>
                </a:r>
                <a14:m>
                  <m:oMath xmlns:m="http://schemas.openxmlformats.org/officeDocument/2006/math">
                    <m:r>
                      <a:rPr lang="en-GB" sz="2400" b="1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GB" sz="2400" b="1" dirty="0">
                    <a:solidFill>
                      <a:schemeClr val="bg1"/>
                    </a:solidFill>
                    <a:effectLst/>
                  </a:rPr>
                  <a:t> Pricing Calculator </a:t>
                </a:r>
                <a14:m>
                  <m:oMath xmlns:m="http://schemas.openxmlformats.org/officeDocument/2006/math">
                    <m:r>
                      <a:rPr lang="en-GB" sz="2400" b="1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GB" sz="2400" b="1" dirty="0">
                    <a:solidFill>
                      <a:schemeClr val="bg1"/>
                    </a:solidFill>
                    <a:effectLst/>
                  </a:rPr>
                  <a:t> </a:t>
                </a:r>
                <a:r>
                  <a:rPr lang="en-GB" sz="2400" dirty="0"/>
                  <a:t>⚠️ </a:t>
                </a:r>
                <a:r>
                  <a:rPr lang="en-GB" sz="2400" b="1" dirty="0">
                    <a:solidFill>
                      <a:schemeClr val="bg1"/>
                    </a:solidFill>
                    <a:effectLst/>
                  </a:rPr>
                  <a:t>Leaving Website</a:t>
                </a:r>
                <a:endParaRPr lang="en-GB" sz="24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CEEAC482-95F5-7FF9-7E9C-CACDDD1058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3630" y="4135834"/>
                <a:ext cx="7594723" cy="461665"/>
              </a:xfrm>
              <a:prstGeom prst="rect">
                <a:avLst/>
              </a:prstGeom>
              <a:blipFill>
                <a:blip r:embed="rId4"/>
                <a:stretch>
                  <a:fillRect l="-1284" t="-11842" r="-161" b="-2894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" name="Rectangle 50">
            <a:extLst>
              <a:ext uri="{FF2B5EF4-FFF2-40B4-BE49-F238E27FC236}">
                <a16:creationId xmlns:a16="http://schemas.microsoft.com/office/drawing/2014/main" id="{EDE3BB0F-3CF0-884F-B76C-A3A1A816A17E}"/>
              </a:ext>
            </a:extLst>
          </p:cNvPr>
          <p:cNvSpPr/>
          <p:nvPr/>
        </p:nvSpPr>
        <p:spPr>
          <a:xfrm>
            <a:off x="-1" y="6809874"/>
            <a:ext cx="4081113" cy="9423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9F9034-6E83-8D37-EB14-1B994177E8C1}"/>
              </a:ext>
            </a:extLst>
          </p:cNvPr>
          <p:cNvSpPr txBox="1"/>
          <p:nvPr/>
        </p:nvSpPr>
        <p:spPr>
          <a:xfrm>
            <a:off x="1091725" y="3691553"/>
            <a:ext cx="18976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b="1" dirty="0"/>
              <a:t>(Flow Diagram)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" y="0"/>
            <a:ext cx="12188816" cy="235867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1156549" y="637762"/>
            <a:ext cx="9885921" cy="15203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800" b="1">
                <a:solidFill>
                  <a:srgbClr val="FFFFFF"/>
                </a:solidFill>
              </a:defRPr>
            </a:pPr>
            <a:r>
              <a:rPr lang="en-US" sz="44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2. Identifying Opportunities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358676"/>
            <a:ext cx="12188815" cy="454542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549" y="2893697"/>
            <a:ext cx="457081" cy="457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1156549" y="2453559"/>
            <a:ext cx="11202289" cy="5134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rgbClr val="B4B4B4"/>
                </a:solidFill>
              </a:defRPr>
            </a:pP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Step 2: UX Solutions &amp; Prioritization 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</a:t>
            </a:r>
            <a:r>
              <a:rPr lang="en-GB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Now we understand where users get stuck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6549" y="3061894"/>
            <a:ext cx="10538911" cy="19389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F0F0F0"/>
                </a:solidFill>
              </a:defRPr>
            </a:pPr>
            <a:r>
              <a:rPr lang="en-GB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Dense financial terms cause cognitive overload, which we can be reduce with three key solutions:</a:t>
            </a:r>
          </a:p>
          <a:p>
            <a:pPr>
              <a:spcAft>
                <a:spcPts val="600"/>
              </a:spcAft>
              <a:defRPr sz="2000">
                <a:solidFill>
                  <a:srgbClr val="F0F0F0"/>
                </a:solidFill>
              </a:defRPr>
            </a:pPr>
            <a:r>
              <a:rPr lang="en-GB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• Hover Tooltips (pop-ups to explain complex terms instantly without leaving the page.)</a:t>
            </a:r>
          </a:p>
          <a:p>
            <a:pPr>
              <a:spcAft>
                <a:spcPts val="600"/>
              </a:spcAft>
              <a:defRPr sz="2000">
                <a:solidFill>
                  <a:srgbClr val="F0F0F0"/>
                </a:solidFill>
              </a:defRPr>
            </a:pPr>
            <a:r>
              <a:rPr lang="en-GB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• Side by Side Comparison cards (Leasing vs. Buying not long blocks of text about finance structures)</a:t>
            </a:r>
          </a:p>
          <a:p>
            <a:pPr>
              <a:spcAft>
                <a:spcPts val="600"/>
              </a:spcAft>
              <a:defRPr sz="2000">
                <a:solidFill>
                  <a:srgbClr val="F0F0F0"/>
                </a:solidFill>
              </a:defRPr>
            </a:pPr>
            <a:r>
              <a:rPr lang="en-GB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• 'Help Me Choose' decision wizard (A simple 3-step tool that recommends suitable plans.)</a:t>
            </a:r>
          </a:p>
          <a:p>
            <a:pPr>
              <a:spcAft>
                <a:spcPts val="600"/>
              </a:spcAft>
              <a:defRPr sz="2000">
                <a:solidFill>
                  <a:srgbClr val="F0F0F0"/>
                </a:solidFill>
              </a:defRPr>
            </a:pPr>
            <a:r>
              <a:rPr lang="en-GB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Prioritize</a:t>
            </a:r>
            <a:r>
              <a:rPr lang="en-GB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quick content fixes vs larger website features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0617105C-A85B-BFA0-5510-F0CC74D1BD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6549" y="5064996"/>
            <a:ext cx="8776723" cy="652422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BF49695A-9476-5418-D093-EF6A43070ADA}"/>
              </a:ext>
            </a:extLst>
          </p:cNvPr>
          <p:cNvSpPr txBox="1"/>
          <p:nvPr/>
        </p:nvSpPr>
        <p:spPr>
          <a:xfrm>
            <a:off x="1156539" y="5136678"/>
            <a:ext cx="3800462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/>
              <a:t> ⚡ </a:t>
            </a:r>
            <a:r>
              <a:rPr lang="en-GB" sz="2400" b="1" dirty="0">
                <a:solidFill>
                  <a:schemeClr val="bg1"/>
                </a:solidFill>
              </a:rPr>
              <a:t>Quick Wins (First)</a:t>
            </a:r>
          </a:p>
          <a:p>
            <a:r>
              <a:rPr lang="en-GB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</a:t>
            </a:r>
          </a:p>
          <a:p>
            <a:r>
              <a:rPr lang="en-GB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GB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- Hover tooltips </a:t>
            </a:r>
          </a:p>
          <a:p>
            <a:r>
              <a:rPr lang="en-GB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- Plain-English text updates </a:t>
            </a:r>
            <a:endParaRPr lang="en-GB" sz="2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A18C493-B44F-875A-7422-F1125CE27356}"/>
              </a:ext>
            </a:extLst>
          </p:cNvPr>
          <p:cNvSpPr txBox="1"/>
          <p:nvPr/>
        </p:nvSpPr>
        <p:spPr>
          <a:xfrm>
            <a:off x="5593034" y="5136678"/>
            <a:ext cx="38004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/>
              <a:t>🚀 </a:t>
            </a:r>
            <a:r>
              <a:rPr lang="en-GB" sz="2400" b="1" dirty="0">
                <a:solidFill>
                  <a:schemeClr val="bg1"/>
                </a:solidFill>
              </a:rPr>
              <a:t>Strategic Projects (Next)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7A344DB-11C1-14F6-C4AE-136256907899}"/>
              </a:ext>
            </a:extLst>
          </p:cNvPr>
          <p:cNvSpPr txBox="1"/>
          <p:nvPr/>
        </p:nvSpPr>
        <p:spPr>
          <a:xfrm>
            <a:off x="4677874" y="5153975"/>
            <a:ext cx="5582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Vs.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212FD05-776F-4D60-4799-14A050FE955B}"/>
              </a:ext>
            </a:extLst>
          </p:cNvPr>
          <p:cNvSpPr txBox="1"/>
          <p:nvPr/>
        </p:nvSpPr>
        <p:spPr>
          <a:xfrm>
            <a:off x="5645971" y="5873870"/>
            <a:ext cx="428730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en-GB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Side-by-side comparison cards</a:t>
            </a:r>
          </a:p>
          <a:p>
            <a:pPr marL="285750" indent="-285750">
              <a:buFontTx/>
              <a:buChar char="-"/>
            </a:pPr>
            <a:r>
              <a:rPr lang="en-GB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'Help Me Choose' wizard 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5468601-85C4-02F0-7562-DA6EB7C30564}"/>
              </a:ext>
            </a:extLst>
          </p:cNvPr>
          <p:cNvSpPr/>
          <p:nvPr/>
        </p:nvSpPr>
        <p:spPr>
          <a:xfrm>
            <a:off x="-1" y="6809874"/>
            <a:ext cx="6208296" cy="9423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" y="-5705"/>
            <a:ext cx="12188816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1156549" y="637762"/>
            <a:ext cx="9885921" cy="90013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800" b="1">
                <a:solidFill>
                  <a:srgbClr val="FFFFFF"/>
                </a:solidFill>
              </a:defRPr>
            </a:pPr>
            <a:r>
              <a:rPr lang="en-US" sz="40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3. Testing the Ideas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88815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549" y="2010758"/>
            <a:ext cx="457071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1232033" y="1688641"/>
            <a:ext cx="10956782" cy="61008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rgbClr val="B4B4B4"/>
                </a:solidFill>
              </a:defRPr>
            </a:pP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Step 3: Prototyping &amp; Checking Our Work 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(Making sure changes help real customers before launch)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2033" y="2207606"/>
            <a:ext cx="9051837" cy="232371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F0F0F0"/>
                </a:solidFill>
              </a:defRPr>
            </a:pPr>
            <a:r>
              <a:rPr lang="en-GB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• 1</a:t>
            </a:r>
            <a:r>
              <a:rPr lang="en-GB" sz="2000" baseline="30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st</a:t>
            </a:r>
            <a:r>
              <a:rPr lang="en-GB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Build Wireframes &amp; Figma prototypes</a:t>
            </a:r>
          </a:p>
          <a:p>
            <a:pPr>
              <a:spcAft>
                <a:spcPts val="600"/>
              </a:spcAft>
              <a:defRPr sz="2000">
                <a:solidFill>
                  <a:srgbClr val="F0F0F0"/>
                </a:solidFill>
              </a:defRPr>
            </a:pPr>
            <a:r>
              <a:rPr lang="en-GB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• 2</a:t>
            </a:r>
            <a:r>
              <a:rPr lang="en-GB" sz="2000" baseline="30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nd</a:t>
            </a:r>
            <a:r>
              <a:rPr lang="en-GB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Run usability tasks (“Realistic Task: Find a car plan within your monthly budget")</a:t>
            </a:r>
          </a:p>
          <a:p>
            <a:pPr>
              <a:spcAft>
                <a:spcPts val="600"/>
              </a:spcAft>
              <a:defRPr sz="2000">
                <a:solidFill>
                  <a:srgbClr val="F0F0F0"/>
                </a:solidFill>
              </a:defRPr>
            </a:pPr>
            <a:r>
              <a:rPr lang="en-GB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• 3</a:t>
            </a:r>
            <a:r>
              <a:rPr lang="en-GB" sz="2000" baseline="30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rd</a:t>
            </a:r>
            <a:r>
              <a:rPr lang="en-GB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Iterate 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&amp; refine</a:t>
            </a:r>
            <a:r>
              <a:rPr lang="en-GB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using findings (Before Writing code)</a:t>
            </a:r>
          </a:p>
          <a:p>
            <a:pPr>
              <a:spcAft>
                <a:spcPts val="600"/>
              </a:spcAft>
              <a:defRPr sz="2000">
                <a:solidFill>
                  <a:srgbClr val="F0F0F0"/>
                </a:solidFill>
              </a:defRPr>
            </a:pPr>
            <a:r>
              <a:rPr lang="en-GB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• Finally launch A/B test against current journey (Prove changes increase conversion)</a:t>
            </a:r>
          </a:p>
          <a:p>
            <a:pPr>
              <a:spcAft>
                <a:spcPts val="600"/>
              </a:spcAft>
              <a:defRPr sz="2000">
                <a:solidFill>
                  <a:srgbClr val="F0F0F0"/>
                </a:solidFill>
              </a:defRPr>
            </a:pPr>
            <a:endParaRPr lang="en-GB" sz="2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spcAft>
                <a:spcPts val="600"/>
              </a:spcAft>
              <a:defRPr sz="2000">
                <a:solidFill>
                  <a:srgbClr val="F0F0F0"/>
                </a:solidFill>
              </a:defRPr>
            </a:pPr>
            <a:r>
              <a:rPr lang="en-GB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loop diagram (Iterative cycle):</a:t>
            </a: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65E988B5-0AD5-DF55-B1B2-0017D26731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2033" y="4592645"/>
            <a:ext cx="7955161" cy="127466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87717D41-8811-1A60-3C57-6DA97B2E0DD7}"/>
                  </a:ext>
                </a:extLst>
              </p:cNvPr>
              <p:cNvSpPr txBox="1"/>
              <p:nvPr/>
            </p:nvSpPr>
            <p:spPr>
              <a:xfrm>
                <a:off x="1689114" y="4694750"/>
                <a:ext cx="749808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sz="2400" b="1" dirty="0">
                    <a:solidFill>
                      <a:schemeClr val="bg1"/>
                    </a:solidFill>
                  </a:rPr>
                  <a:t>Design Prototype</a:t>
                </a:r>
                <a14:m>
                  <m:oMath xmlns:m="http://schemas.openxmlformats.org/officeDocument/2006/math">
                    <m:r>
                      <a:rPr lang="en-GB" sz="2400" b="1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→</m:t>
                    </m:r>
                  </m:oMath>
                </a14:m>
                <a:r>
                  <a:rPr lang="en-GB" sz="2400" b="1" dirty="0">
                    <a:solidFill>
                      <a:schemeClr val="bg1"/>
                    </a:solidFill>
                    <a:effectLst/>
                  </a:rPr>
                  <a:t> </a:t>
                </a:r>
                <a:r>
                  <a:rPr lang="en-GB" sz="2400" b="1" dirty="0">
                    <a:solidFill>
                      <a:schemeClr val="bg1"/>
                    </a:solidFill>
                  </a:rPr>
                  <a:t>Test with Users</a:t>
                </a:r>
                <a:r>
                  <a:rPr lang="en-GB" sz="2400" b="1" dirty="0">
                    <a:solidFill>
                      <a:schemeClr val="bg1"/>
                    </a:solidFill>
                    <a:effectLst/>
                  </a:rPr>
                  <a:t> </a:t>
                </a:r>
                <a14:m>
                  <m:oMath xmlns:m="http://schemas.openxmlformats.org/officeDocument/2006/math">
                    <m:r>
                      <a:rPr lang="en-GB" sz="2400" b="1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GB" sz="2400" b="1" dirty="0">
                    <a:solidFill>
                      <a:schemeClr val="bg1"/>
                    </a:solidFill>
                    <a:effectLst/>
                  </a:rPr>
                  <a:t> </a:t>
                </a:r>
                <a:r>
                  <a:rPr lang="en-GB" sz="2400" b="1" dirty="0">
                    <a:solidFill>
                      <a:schemeClr val="bg1"/>
                    </a:solidFill>
                  </a:rPr>
                  <a:t>Live Launch</a:t>
                </a: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87717D41-8811-1A60-3C57-6DA97B2E0D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9114" y="4694750"/>
                <a:ext cx="7498080" cy="461665"/>
              </a:xfrm>
              <a:prstGeom prst="rect">
                <a:avLst/>
              </a:prstGeom>
              <a:blipFill>
                <a:blip r:embed="rId3"/>
                <a:stretch>
                  <a:fillRect l="-1220" t="-10526" b="-2894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TextBox 56">
            <a:extLst>
              <a:ext uri="{FF2B5EF4-FFF2-40B4-BE49-F238E27FC236}">
                <a16:creationId xmlns:a16="http://schemas.microsoft.com/office/drawing/2014/main" id="{60AD2DBD-BE2C-9225-A442-5B946864F73B}"/>
              </a:ext>
            </a:extLst>
          </p:cNvPr>
          <p:cNvSpPr txBox="1"/>
          <p:nvPr/>
        </p:nvSpPr>
        <p:spPr>
          <a:xfrm>
            <a:off x="2880093" y="5288305"/>
            <a:ext cx="265814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Iterate and Refine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CD279893-336A-C7F7-FBB8-7FFDD3459BC1}"/>
                  </a:ext>
                </a:extLst>
              </p:cNvPr>
              <p:cNvSpPr txBox="1"/>
              <p:nvPr/>
            </p:nvSpPr>
            <p:spPr>
              <a:xfrm rot="5400000">
                <a:off x="5347341" y="5154286"/>
                <a:ext cx="457406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24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GB" sz="2400" b="1" dirty="0">
                    <a:solidFill>
                      <a:schemeClr val="bg1"/>
                    </a:solidFill>
                    <a:effectLst/>
                  </a:rPr>
                  <a:t> </a:t>
                </a:r>
                <a:endParaRPr lang="en-GB" sz="24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CD279893-336A-C7F7-FBB8-7FFDD3459B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5347341" y="5154286"/>
                <a:ext cx="457406" cy="461665"/>
              </a:xfrm>
              <a:prstGeom prst="rect">
                <a:avLst/>
              </a:prstGeom>
              <a:blipFill>
                <a:blip r:embed="rId4"/>
                <a:stretch>
                  <a:fillRect l="-28947" r="-10526" b="-30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9CE79AE5-6B78-B1F2-875A-142F07F760E4}"/>
                  </a:ext>
                </a:extLst>
              </p:cNvPr>
              <p:cNvSpPr txBox="1"/>
              <p:nvPr/>
            </p:nvSpPr>
            <p:spPr>
              <a:xfrm rot="16200000">
                <a:off x="2460591" y="5154285"/>
                <a:ext cx="45740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</m:oMath>
                  </m:oMathPara>
                </a14:m>
                <a:endParaRPr lang="en-GB" sz="24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9CE79AE5-6B78-B1F2-875A-142F07F760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2460591" y="5154285"/>
                <a:ext cx="457407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7" name="Rectangle 66">
            <a:extLst>
              <a:ext uri="{FF2B5EF4-FFF2-40B4-BE49-F238E27FC236}">
                <a16:creationId xmlns:a16="http://schemas.microsoft.com/office/drawing/2014/main" id="{BEE912D0-B34D-EED8-BA1C-E3B5C6E15720}"/>
              </a:ext>
            </a:extLst>
          </p:cNvPr>
          <p:cNvSpPr/>
          <p:nvPr/>
        </p:nvSpPr>
        <p:spPr>
          <a:xfrm>
            <a:off x="-1" y="6809874"/>
            <a:ext cx="8027470" cy="9423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" y="0"/>
            <a:ext cx="12188816" cy="235867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1156549" y="637762"/>
            <a:ext cx="9885921" cy="15203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800" b="1">
                <a:solidFill>
                  <a:srgbClr val="FFFFFF"/>
                </a:solidFill>
              </a:defRPr>
            </a:pPr>
            <a:r>
              <a:rPr lang="en-US" sz="44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4. Measuring Success (Accountability)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358676"/>
            <a:ext cx="12188815" cy="454542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549" y="2893697"/>
            <a:ext cx="457081" cy="457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1155257" y="2472830"/>
            <a:ext cx="10802887" cy="135246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rgbClr val="B4B4B4"/>
                </a:solidFill>
              </a:defRPr>
            </a:pP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Step 4: KPIs &amp; Performance Metrics 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(Tracking improvement through data and customer sentiment)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rgbClr val="B4B4B4"/>
                </a:solidFill>
              </a:defRPr>
            </a:pPr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defTabSz="914400">
              <a:lnSpc>
                <a:spcPct val="90000"/>
              </a:lnSpc>
              <a:spcAft>
                <a:spcPts val="600"/>
              </a:spcAft>
              <a:defRPr sz="1600">
                <a:solidFill>
                  <a:srgbClr val="B4B4B4"/>
                </a:solidFill>
              </a:defRPr>
            </a:pPr>
            <a:r>
              <a:rPr lang="en-GB" sz="2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Evaluating success across two distinct pillars as shown in the boxes looks like this: 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  <a:defRPr sz="1600">
                <a:solidFill>
                  <a:srgbClr val="B4B4B4"/>
                </a:solidFill>
              </a:defRPr>
            </a:pPr>
            <a:r>
              <a:rPr lang="en-GB" sz="2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-We want to see from the shoppers 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  <a:defRPr sz="1600">
                <a:solidFill>
                  <a:srgbClr val="B4B4B4"/>
                </a:solidFill>
              </a:defRPr>
            </a:pPr>
            <a:endParaRPr lang="en-US" sz="2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defTabSz="914400">
              <a:lnSpc>
                <a:spcPct val="90000"/>
              </a:lnSpc>
              <a:spcAft>
                <a:spcPts val="600"/>
              </a:spcAft>
              <a:defRPr sz="1600">
                <a:solidFill>
                  <a:srgbClr val="B4B4B4"/>
                </a:solidFill>
              </a:defRPr>
            </a:pPr>
            <a:endParaRPr lang="en-US" sz="2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B8CBE8E-134F-40F4-8202-187776E9534E}"/>
              </a:ext>
            </a:extLst>
          </p:cNvPr>
          <p:cNvSpPr/>
          <p:nvPr/>
        </p:nvSpPr>
        <p:spPr>
          <a:xfrm>
            <a:off x="-1" y="6809874"/>
            <a:ext cx="10113580" cy="9423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D03CDB61-BEBE-E0EF-7A64-4CA60631B281}"/>
              </a:ext>
            </a:extLst>
          </p:cNvPr>
          <p:cNvGrpSpPr/>
          <p:nvPr/>
        </p:nvGrpSpPr>
        <p:grpSpPr>
          <a:xfrm>
            <a:off x="1156549" y="4025834"/>
            <a:ext cx="10322050" cy="1956596"/>
            <a:chOff x="4119324" y="4431838"/>
            <a:chExt cx="10322050" cy="1956596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CE92FD5D-1A27-8257-611C-B735C3968F0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119324" y="4431838"/>
              <a:ext cx="10322050" cy="652422"/>
            </a:xfrm>
            <a:prstGeom prst="rect">
              <a:avLst/>
            </a:prstGeom>
          </p:spPr>
        </p:pic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5A55D51D-DDAE-67FC-BD7A-70EDC8E392B2}"/>
                </a:ext>
              </a:extLst>
            </p:cNvPr>
            <p:cNvGrpSpPr/>
            <p:nvPr/>
          </p:nvGrpSpPr>
          <p:grpSpPr>
            <a:xfrm>
              <a:off x="4120626" y="4464830"/>
              <a:ext cx="10178858" cy="1923604"/>
              <a:chOff x="4120626" y="4464830"/>
              <a:chExt cx="10178858" cy="1923604"/>
            </a:xfrm>
          </p:grpSpPr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EFC3973-1F80-F895-6AFD-3A14BF5E2990}"/>
                  </a:ext>
                </a:extLst>
              </p:cNvPr>
              <p:cNvSpPr txBox="1"/>
              <p:nvPr/>
            </p:nvSpPr>
            <p:spPr>
              <a:xfrm>
                <a:off x="4120626" y="4464830"/>
                <a:ext cx="4299761" cy="192360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sz="2400" b="1" dirty="0">
                    <a:solidFill>
                      <a:schemeClr val="bg1"/>
                    </a:solidFill>
                  </a:rPr>
                  <a:t>Numbers &amp; Performance</a:t>
                </a:r>
                <a:r>
                  <a:rPr lang="en-GB" sz="2400" dirty="0">
                    <a:solidFill>
                      <a:schemeClr val="bg1"/>
                    </a:solidFill>
                  </a:rPr>
                  <a:t>   </a:t>
                </a:r>
              </a:p>
              <a:p>
                <a:pPr>
                  <a:spcAft>
                    <a:spcPts val="600"/>
                  </a:spcAft>
                  <a:defRPr sz="2000">
                    <a:solidFill>
                      <a:srgbClr val="F0F0F0"/>
                    </a:solidFill>
                  </a:defRPr>
                </a:pPr>
                <a:endParaRPr lang="en-GB" sz="20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  <a:p>
                <a:pPr>
                  <a:spcAft>
                    <a:spcPts val="600"/>
                  </a:spcAft>
                  <a:defRPr sz="2000">
                    <a:solidFill>
                      <a:srgbClr val="F0F0F0"/>
                    </a:solidFill>
                  </a:defRPr>
                </a:pPr>
                <a:r>
                  <a:rPr lang="en-GB" sz="2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• Reduction in finance page exits</a:t>
                </a:r>
              </a:p>
              <a:p>
                <a:pPr>
                  <a:spcAft>
                    <a:spcPts val="600"/>
                  </a:spcAft>
                  <a:defRPr sz="2000">
                    <a:solidFill>
                      <a:srgbClr val="F0F0F0"/>
                    </a:solidFill>
                  </a:defRPr>
                </a:pPr>
                <a:r>
                  <a:rPr lang="en-GB" sz="2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• Increase in finance quote completion</a:t>
                </a:r>
              </a:p>
              <a:p>
                <a:pPr>
                  <a:spcAft>
                    <a:spcPts val="600"/>
                  </a:spcAft>
                  <a:defRPr sz="2000">
                    <a:solidFill>
                      <a:srgbClr val="F0F0F0"/>
                    </a:solidFill>
                  </a:defRPr>
                </a:pPr>
                <a:r>
                  <a:rPr lang="en-GB" sz="20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(Quantitative Data)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C7358AE-C928-3E2F-34A2-EFE88755DB2C}"/>
                  </a:ext>
                </a:extLst>
              </p:cNvPr>
              <p:cNvSpPr txBox="1"/>
              <p:nvPr/>
            </p:nvSpPr>
            <p:spPr>
              <a:xfrm>
                <a:off x="8651058" y="4464830"/>
                <a:ext cx="5648426" cy="19082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sz="2400" b="1" dirty="0">
                    <a:solidFill>
                      <a:schemeClr val="bg1"/>
                    </a:solidFill>
                  </a:rPr>
                  <a:t>Customer Experience</a:t>
                </a:r>
              </a:p>
              <a:p>
                <a:endParaRPr lang="en-GB" sz="2400" b="1" dirty="0">
                  <a:solidFill>
                    <a:schemeClr val="bg1"/>
                  </a:solidFill>
                </a:endParaRPr>
              </a:p>
              <a:p>
                <a:pPr>
                  <a:spcAft>
                    <a:spcPts val="600"/>
                  </a:spcAft>
                  <a:defRPr sz="2000">
                    <a:solidFill>
                      <a:srgbClr val="F0F0F0"/>
                    </a:solidFill>
                  </a:defRPr>
                </a:pPr>
                <a:r>
                  <a:rPr lang="en-GB" sz="2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• Fewer support questions (Fewer tickets and calls)</a:t>
                </a:r>
              </a:p>
              <a:p>
                <a:pPr>
                  <a:spcAft>
                    <a:spcPts val="600"/>
                  </a:spcAft>
                  <a:defRPr sz="2000">
                    <a:solidFill>
                      <a:srgbClr val="F0F0F0"/>
                    </a:solidFill>
                  </a:defRPr>
                </a:pPr>
                <a:r>
                  <a:rPr lang="en-GB" sz="2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• Higher customer satisfaction and feedback scores</a:t>
                </a:r>
              </a:p>
              <a:p>
                <a:r>
                  <a:rPr lang="en-GB" sz="20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(Qualitative Sentiment)</a:t>
                </a:r>
              </a:p>
            </p:txBody>
          </p:sp>
        </p:grp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" y="0"/>
            <a:ext cx="12188816" cy="235867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1156549" y="637762"/>
            <a:ext cx="9885921" cy="15203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800" b="1">
                <a:solidFill>
                  <a:srgbClr val="FFFFFF"/>
                </a:solidFill>
              </a:defRPr>
            </a:pPr>
            <a:r>
              <a:rPr lang="en-US" sz="44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Summary &amp; Next Steps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358676"/>
            <a:ext cx="12188815" cy="454542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549" y="2893697"/>
            <a:ext cx="457081" cy="457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1155258" y="3100283"/>
            <a:ext cx="9887212" cy="307667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  <a:defRPr sz="2000">
                <a:solidFill>
                  <a:srgbClr val="F0F0F0"/>
                </a:solidFill>
              </a:defRPr>
            </a:pPr>
            <a:r>
              <a:rPr lang="en-GB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Improving the online showroom finance journey comes down to four principles:</a:t>
            </a:r>
            <a:r>
              <a:rPr lang="en-GB" sz="2000" b="1" dirty="0"/>
              <a:t> </a:t>
            </a:r>
            <a:endParaRPr lang="en-US" sz="2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defTabSz="914400">
              <a:lnSpc>
                <a:spcPct val="90000"/>
              </a:lnSpc>
              <a:spcAft>
                <a:spcPts val="600"/>
              </a:spcAft>
              <a:defRPr sz="2000">
                <a:solidFill>
                  <a:srgbClr val="F0F0F0"/>
                </a:solidFill>
              </a:defRPr>
            </a:pPr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defTabSz="914400">
              <a:lnSpc>
                <a:spcPct val="90000"/>
              </a:lnSpc>
              <a:spcAft>
                <a:spcPts val="600"/>
              </a:spcAft>
              <a:defRPr sz="2000">
                <a:solidFill>
                  <a:srgbClr val="F0F0F0"/>
                </a:solidFill>
              </a:defRPr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• Customer-first design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  <a:defRPr sz="2000">
                <a:solidFill>
                  <a:srgbClr val="F0F0F0"/>
                </a:solidFill>
              </a:defRPr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• Clear communication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  <a:defRPr sz="2000">
                <a:solidFill>
                  <a:srgbClr val="F0F0F0"/>
                </a:solidFill>
              </a:defRPr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• Test ideas quickly before building them.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  <a:defRPr sz="2000">
                <a:solidFill>
                  <a:srgbClr val="F0F0F0"/>
                </a:solidFill>
              </a:defRPr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• Continuous improvement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  <a:defRPr sz="2000">
                <a:solidFill>
                  <a:srgbClr val="F0F0F0"/>
                </a:solidFill>
              </a:defRPr>
            </a:pPr>
            <a:endParaRPr lang="en-GB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defTabSz="914400">
              <a:lnSpc>
                <a:spcPct val="90000"/>
              </a:lnSpc>
              <a:spcAft>
                <a:spcPts val="600"/>
              </a:spcAft>
              <a:defRPr sz="2000">
                <a:solidFill>
                  <a:srgbClr val="F0F0F0"/>
                </a:solidFill>
              </a:defRPr>
            </a:pPr>
            <a:r>
              <a:rPr lang="en-GB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This structured approach, we ensure the online showroom matches the luxury, simplicity, and excellence that the Mercedes-Benz brand stands for.</a:t>
            </a:r>
            <a:endParaRPr lang="en-US" sz="2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56549" y="2432031"/>
            <a:ext cx="179889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B4B4B4"/>
                </a:solidFill>
              </a:defRPr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• </a:t>
            </a:r>
            <a:r>
              <a:rPr lang="en-GB" sz="2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Conclusion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9949CB5-C66A-B3A2-E632-B7532FE91B99}"/>
              </a:ext>
            </a:extLst>
          </p:cNvPr>
          <p:cNvSpPr/>
          <p:nvPr/>
        </p:nvSpPr>
        <p:spPr>
          <a:xfrm>
            <a:off x="-1" y="6809874"/>
            <a:ext cx="11232932" cy="9423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" y="0"/>
            <a:ext cx="12188816" cy="235867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358676"/>
            <a:ext cx="12188815" cy="454542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549" y="2893697"/>
            <a:ext cx="457081" cy="457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0FCA44-9786-D131-DE99-53505459A7DC}"/>
              </a:ext>
            </a:extLst>
          </p:cNvPr>
          <p:cNvSpPr txBox="1"/>
          <p:nvPr/>
        </p:nvSpPr>
        <p:spPr>
          <a:xfrm>
            <a:off x="1241968" y="3045936"/>
            <a:ext cx="9887212" cy="30766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Thank You 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|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Questions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E3E7604-9F5B-450F-704A-AA6B863B998E}"/>
              </a:ext>
            </a:extLst>
          </p:cNvPr>
          <p:cNvSpPr/>
          <p:nvPr/>
        </p:nvSpPr>
        <p:spPr>
          <a:xfrm>
            <a:off x="-1" y="6809874"/>
            <a:ext cx="12188814" cy="9423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47CC46F-751C-CBAB-FDF6-A401ECCF78DA}"/>
              </a:ext>
            </a:extLst>
          </p:cNvPr>
          <p:cNvSpPr txBox="1"/>
          <p:nvPr/>
        </p:nvSpPr>
        <p:spPr>
          <a:xfrm>
            <a:off x="1156549" y="1121925"/>
            <a:ext cx="6093372" cy="7017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800" b="1">
                <a:solidFill>
                  <a:srgbClr val="FFFFFF"/>
                </a:solidFill>
              </a:defRPr>
            </a:pPr>
            <a:r>
              <a:rPr lang="en-US" sz="44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The End</a:t>
            </a:r>
          </a:p>
        </p:txBody>
      </p:sp>
    </p:spTree>
    <p:extLst>
      <p:ext uri="{BB962C8B-B14F-4D97-AF65-F5344CB8AC3E}">
        <p14:creationId xmlns:p14="http://schemas.microsoft.com/office/powerpoint/2010/main" val="15028348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Dune</Template>
  <TotalTime>383</TotalTime>
  <Words>535</Words>
  <Application>Microsoft Office PowerPoint</Application>
  <PresentationFormat>Custom</PresentationFormat>
  <Paragraphs>71</Paragraphs>
  <Slides>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Arial</vt:lpstr>
      <vt:lpstr>Calibri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Marquis Orchard</cp:lastModifiedBy>
  <cp:revision>33</cp:revision>
  <dcterms:created xsi:type="dcterms:W3CDTF">2013-01-27T09:14:16Z</dcterms:created>
  <dcterms:modified xsi:type="dcterms:W3CDTF">2026-08-05T13:32:34Z</dcterms:modified>
  <cp:category/>
</cp:coreProperties>
</file>